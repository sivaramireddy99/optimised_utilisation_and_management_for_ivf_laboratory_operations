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0" r:id="rId7"/>
    <p:sldId id="268" r:id="rId8"/>
    <p:sldId id="261" r:id="rId9"/>
    <p:sldId id="262" r:id="rId10"/>
    <p:sldId id="263" r:id="rId11"/>
    <p:sldId id="266" r:id="rId12"/>
    <p:sldId id="267" r:id="rId13"/>
    <p:sldId id="26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4E5B0-6655-BABC-B6FC-7FF5EBAB301E}" v="373" dt="2026-01-16T15:22:22.944"/>
    <p1510:client id="{93288949-3AA4-4E81-B7E4-B8FD9CEA0859}" v="513" dt="2026-01-16T14:52:42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570"/>
        <p:guide pos="5868"/>
        <p:guide orient="horz" pos="157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79" name="Google Shape;79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126" name="Google Shape;12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f3a8d4be09_2_86"/>
          <p:cNvSpPr/>
          <p:nvPr/>
        </p:nvSpPr>
        <p:spPr>
          <a:xfrm>
            <a:off x="0" y="3"/>
            <a:ext cx="12192000" cy="8193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gf3a8d4be09_2_86"/>
          <p:cNvCxnSpPr/>
          <p:nvPr/>
        </p:nvCxnSpPr>
        <p:spPr>
          <a:xfrm>
            <a:off x="0" y="6457951"/>
            <a:ext cx="960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6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831851" y="17097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71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Optimized Equipment Utilization and Management for IVF Laboratory Operations</a:t>
            </a:r>
          </a:p>
        </p:txBody>
      </p:sp>
      <p:sp>
        <p:nvSpPr>
          <p:cNvPr id="74" name="Google Shape;74;p1"/>
          <p:cNvSpPr txBox="1"/>
          <p:nvPr/>
        </p:nvSpPr>
        <p:spPr>
          <a:xfrm>
            <a:off x="242944" y="860611"/>
            <a:ext cx="35376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A471B2-ADA5-596C-E14F-8B2BDF7ED9E1}"/>
              </a:ext>
            </a:extLst>
          </p:cNvPr>
          <p:cNvSpPr txBox="1"/>
          <p:nvPr/>
        </p:nvSpPr>
        <p:spPr>
          <a:xfrm>
            <a:off x="1018060" y="2068684"/>
            <a:ext cx="1050444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31800">
              <a:buFont typeface="Times New Roman,Serif"/>
              <a:buChar char="●"/>
            </a:pPr>
            <a:r>
              <a:rPr lang="en-US" sz="2400" b="1" dirty="0"/>
              <a:t>Domain       :</a:t>
            </a:r>
            <a:r>
              <a:rPr lang="en-US" sz="2400" dirty="0"/>
              <a:t> Healthcare Operations Analytics</a:t>
            </a:r>
          </a:p>
          <a:p>
            <a:pPr marL="457200" indent="-431800">
              <a:buFont typeface="Times New Roman,Serif"/>
              <a:buChar char="●"/>
            </a:pPr>
            <a:r>
              <a:rPr lang="en-US" sz="2400" b="1" dirty="0"/>
              <a:t>Tools Used :</a:t>
            </a:r>
            <a:r>
              <a:rPr lang="en-US" sz="2400" dirty="0"/>
              <a:t> Python, SQL, Power BI</a:t>
            </a:r>
          </a:p>
          <a:p>
            <a:pPr marL="457200" indent="-431800">
              <a:buFont typeface="Times New Roman,Serif"/>
              <a:buChar char="●"/>
            </a:pPr>
            <a:r>
              <a:rPr lang="en-US" sz="2400" b="1" dirty="0"/>
              <a:t>Focus          :</a:t>
            </a:r>
            <a:r>
              <a:rPr lang="en-US" sz="2400" dirty="0"/>
              <a:t> Equipment efficiency, downtime reduction operational Insights.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B4F6B-488D-1CFF-55A3-78C867AA89C8}"/>
              </a:ext>
            </a:extLst>
          </p:cNvPr>
          <p:cNvSpPr txBox="1"/>
          <p:nvPr/>
        </p:nvSpPr>
        <p:spPr>
          <a:xfrm>
            <a:off x="7730613" y="3969774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Prepared by :</a:t>
            </a:r>
            <a:r>
              <a:rPr lang="en-US" sz="2400" dirty="0"/>
              <a:t> </a:t>
            </a:r>
            <a:endParaRPr lang="en-US"/>
          </a:p>
          <a:p>
            <a:r>
              <a:rPr lang="en-US" sz="2400" dirty="0"/>
              <a:t>Badam Siva Rami Reddy</a:t>
            </a:r>
            <a:endParaRPr lang="en-US" dirty="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Google Shape;81;gf3a8d4be09_2_180"/>
          <p:cNvSpPr txBox="1"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/>
              </a:rPr>
              <a:t>Contents</a:t>
            </a:r>
          </a:p>
        </p:txBody>
      </p:sp>
      <p:sp>
        <p:nvSpPr>
          <p:cNvPr id="93" name="Arc 9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Google Shape;83;gf3a8d4be09_2_180"/>
          <p:cNvSpPr txBox="1"/>
          <p:nvPr/>
        </p:nvSpPr>
        <p:spPr>
          <a:xfrm>
            <a:off x="5370153" y="1526033"/>
            <a:ext cx="6341529" cy="393528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Business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Problem</a:t>
            </a:r>
            <a:endParaRPr lang="en-US" sz="2400" b="0" i="0" u="none" strike="noStrike" kern="1200" cap="none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</a:rPr>
              <a:t>Project Overview and Scope</a:t>
            </a:r>
            <a:endParaRPr lang="en-US" sz="2400" b="0" i="0" u="none" strike="noStrike" kern="1200" cap="none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Project Architecture - Data F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low Diagram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Data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Dictionary</a:t>
            </a:r>
            <a:endParaRPr lang="en-US" sz="2400" b="0" i="0" u="none" strike="noStrike" kern="1200" cap="none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Exploratory Data Analysis</a:t>
            </a:r>
            <a:endParaRPr lang="en-US" sz="2400" b="0" i="0" u="none" strike="noStrike" kern="1200" cap="none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</a:rPr>
              <a:t>Statistical and Business Insights(EDA)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Times New Roman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</a:rPr>
              <a:t>Data Preprocessing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Times New Roman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imes New Roman"/>
              </a:rPr>
              <a:t>Data Visualization</a:t>
            </a:r>
            <a:endParaRPr lang="en-US" sz="2400" b="0" i="0" u="none" strike="noStrike" kern="1200" cap="none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2" name="Google Shape;82;gf3a8d4be09_2_1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inden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R="0" lvl="0" indent="0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4" name="Google Shape;84;gf3a8d4be09_2_18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6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6EA124-7059-E367-5722-BBF0BF15AF90}"/>
              </a:ext>
            </a:extLst>
          </p:cNvPr>
          <p:cNvSpPr txBox="1"/>
          <p:nvPr/>
        </p:nvSpPr>
        <p:spPr>
          <a:xfrm>
            <a:off x="222738" y="943708"/>
            <a:ext cx="11289323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dirty="0">
                <a:latin typeface="Times New Roman"/>
                <a:cs typeface="Times New Roman"/>
              </a:rPr>
              <a:t>--&gt; </a:t>
            </a:r>
            <a:r>
              <a:rPr lang="en-IN" sz="2400" b="0" i="0" dirty="0">
                <a:solidFill>
                  <a:srgbClr val="000000"/>
                </a:solidFill>
                <a:latin typeface="Times New Roman"/>
                <a:ea typeface="Arial"/>
                <a:cs typeface="Times New Roman"/>
              </a:rPr>
              <a:t>High Cost Equipment in IVF Labs like incubators, microscopes, ICSI workstations.</a:t>
            </a:r>
            <a:endParaRPr lang="en-US" dirty="0"/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--&gt; </a:t>
            </a:r>
            <a:r>
              <a:rPr lang="en-IN" sz="2400" b="0" i="0" dirty="0">
                <a:solidFill>
                  <a:srgbClr val="000000"/>
                </a:solidFill>
                <a:latin typeface="Times New Roman"/>
                <a:ea typeface="Arial"/>
                <a:cs typeface="Times New Roman"/>
              </a:rPr>
              <a:t>Utilization varies widely 40 to 80%.</a:t>
            </a:r>
            <a:endParaRPr lang="en-US" b="0" i="0" dirty="0">
              <a:solidFill>
                <a:srgbClr val="000000"/>
              </a:solidFill>
              <a:ea typeface="Arial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--&gt; </a:t>
            </a:r>
            <a:r>
              <a:rPr lang="en-IN" sz="2400" b="0" i="0" dirty="0">
                <a:solidFill>
                  <a:srgbClr val="000000"/>
                </a:solidFill>
                <a:latin typeface="Times New Roman"/>
                <a:ea typeface="Arial"/>
                <a:cs typeface="Times New Roman"/>
              </a:rPr>
              <a:t>Its idle time is 20-30% &amp; 10-15% workflow delays.</a:t>
            </a: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--&gt; </a:t>
            </a:r>
            <a:r>
              <a:rPr lang="en-IN" sz="2400" b="0" i="0" dirty="0">
                <a:solidFill>
                  <a:srgbClr val="000000"/>
                </a:solidFill>
                <a:latin typeface="Times New Roman"/>
                <a:ea typeface="Arial"/>
                <a:cs typeface="Times New Roman"/>
              </a:rPr>
              <a:t>15-25% unnecessary operating costs.</a:t>
            </a: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--&gt; </a:t>
            </a:r>
            <a:r>
              <a:rPr lang="en-IN" sz="2400" b="0" i="0" dirty="0">
                <a:solidFill>
                  <a:srgbClr val="000000"/>
                </a:solidFill>
                <a:latin typeface="Times New Roman"/>
                <a:ea typeface="Arial"/>
                <a:cs typeface="Times New Roman"/>
              </a:rPr>
              <a:t>Lack of redundancy causes 2-4 hours delays, affecting embryo viability and throughput.</a:t>
            </a:r>
          </a:p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f3a8d4be09_2_92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7" name="Google Shape;97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f3a8d4be09_2_92"/>
          <p:cNvSpPr txBox="1"/>
          <p:nvPr/>
        </p:nvSpPr>
        <p:spPr>
          <a:xfrm>
            <a:off x="6053425" y="2493975"/>
            <a:ext cx="34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f3a8d4be09_2_92"/>
          <p:cNvSpPr txBox="1"/>
          <p:nvPr/>
        </p:nvSpPr>
        <p:spPr>
          <a:xfrm>
            <a:off x="5938500" y="3792975"/>
            <a:ext cx="327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f3a8d4be09_2_9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167217-30DD-8CDE-0E0C-520EB2824340}"/>
              </a:ext>
            </a:extLst>
          </p:cNvPr>
          <p:cNvSpPr txBox="1"/>
          <p:nvPr/>
        </p:nvSpPr>
        <p:spPr>
          <a:xfrm>
            <a:off x="222739" y="1189893"/>
            <a:ext cx="11605845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just"/>
            <a:r>
              <a:rPr lang="en-IN" sz="2400" dirty="0"/>
              <a:t> ---&gt; Client : One of the leading IVF clinics in India.</a:t>
            </a:r>
            <a:endParaRPr lang="en-US"/>
          </a:p>
          <a:p>
            <a:pPr marL="285750" indent="-285750" algn="just">
              <a:buChar char="•"/>
            </a:pPr>
            <a:r>
              <a:rPr lang="en-IN" sz="2400" dirty="0"/>
              <a:t>IVF laboratories rely on expensive and critical equipment.</a:t>
            </a:r>
            <a:endParaRPr lang="en-IN" dirty="0"/>
          </a:p>
          <a:p>
            <a:pPr marL="285750" indent="-285750" algn="just">
              <a:buChar char="•"/>
            </a:pPr>
            <a:r>
              <a:rPr lang="en-IN" sz="2400" dirty="0"/>
              <a:t>Efficient utilization is essential to reduce cost and delays.</a:t>
            </a:r>
          </a:p>
          <a:p>
            <a:pPr algn="just"/>
            <a:r>
              <a:rPr lang="en-IN" sz="2400" dirty="0"/>
              <a:t>• EDA of utilization, idle hours, delays, capacity.</a:t>
            </a:r>
            <a:endParaRPr lang="en-US" sz="2400" dirty="0"/>
          </a:p>
          <a:p>
            <a:pPr marL="285750" indent="-285750">
              <a:buChar char="•"/>
            </a:pPr>
            <a:r>
              <a:rPr lang="en-GB" sz="2400" dirty="0"/>
              <a:t>Development of KPIs such as utilization, total downtime, total runtime.</a:t>
            </a:r>
            <a:endParaRPr lang="en-IN" dirty="0"/>
          </a:p>
          <a:p>
            <a:pPr marL="285750" indent="-285750" algn="just">
              <a:buChar char="•"/>
            </a:pPr>
            <a:r>
              <a:rPr lang="en-IN" sz="2400" dirty="0"/>
              <a:t>This project analyses equipment usage and operational performance.</a:t>
            </a:r>
            <a:endParaRPr lang="en-IN" dirty="0"/>
          </a:p>
          <a:p>
            <a:pPr marL="285750" indent="-285750" algn="just">
              <a:buChar char="•"/>
            </a:pPr>
            <a:r>
              <a:rPr lang="en-IN" sz="2400" dirty="0"/>
              <a:t>Goal is to support </a:t>
            </a:r>
            <a:r>
              <a:rPr lang="en-IN" sz="2400" b="1" dirty="0"/>
              <a:t>data-driven operational decisions.</a:t>
            </a:r>
            <a:endParaRPr lang="en-IN" dirty="0"/>
          </a:p>
          <a:p>
            <a:pPr marL="347345" indent="-347345" algn="just"/>
            <a:endParaRPr lang="en-IN" sz="2400" dirty="0"/>
          </a:p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ject">
            <a:extLst>
              <a:ext uri="{FF2B5EF4-FFF2-40B4-BE49-F238E27FC236}">
                <a16:creationId xmlns:a16="http://schemas.microsoft.com/office/drawing/2014/main" id="{7E34CA8E-1F6C-7D65-0BCC-5955AF50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17"/>
          <a:stretch>
            <a:fillRect/>
          </a:stretch>
        </p:blipFill>
        <p:spPr>
          <a:xfrm>
            <a:off x="20" y="790764"/>
            <a:ext cx="12191978" cy="5635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0B743-D41B-B856-08EF-60EC9D81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-2382"/>
            <a:ext cx="11210925" cy="8023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Arial"/>
              </a:rPr>
              <a:t>Project Architecture – Data Flow Diagram</a:t>
            </a:r>
            <a:endParaRPr lang="en-US" sz="3600" b="1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17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53B4E2-56DB-4739-951D-0CABDFD5E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47791"/>
            <a:ext cx="12192000" cy="51858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6887-07F8-3304-B190-EA59F8A1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Analysis(EDA)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034BE-9EF8-C509-BBA4-992E98571F4A}"/>
              </a:ext>
            </a:extLst>
          </p:cNvPr>
          <p:cNvSpPr txBox="1"/>
          <p:nvPr/>
        </p:nvSpPr>
        <p:spPr>
          <a:xfrm>
            <a:off x="234461" y="873369"/>
            <a:ext cx="11652737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/>
              <a:t>Analyzed distribution and central tendency of equipment capacity, utilization, and idle hours.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Identified </a:t>
            </a:r>
            <a:r>
              <a:rPr lang="en-US" sz="2400" b="1" dirty="0"/>
              <a:t>moderate utilization (~61%)</a:t>
            </a:r>
            <a:r>
              <a:rPr lang="en-US" sz="2400" dirty="0"/>
              <a:t> across IVF equipment, indicating underuse of available capacity.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Observed consistent </a:t>
            </a:r>
            <a:r>
              <a:rPr lang="en-US" sz="2400" b="1" dirty="0"/>
              <a:t>idle hours (~39%)</a:t>
            </a:r>
            <a:r>
              <a:rPr lang="en-US" sz="2400" dirty="0"/>
              <a:t>, highlighting inefficiencies in daily scheduling.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Capacity hours show negative skewness, confirming unused operational potential.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Utilization patterns are stable with low variability, suggesting predictable demand.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No recorded technical downtime or maintenance events, indicating possible data gaps or limited tracking.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Case volume remains steady across weekdays, with reduced activity during weekends.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Overall trends suggest opportunities to improve throughput without additional equipment investment.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0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48194" y="147682"/>
            <a:ext cx="924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Exploratory Data Analysis [EDA]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609600" y="1181100"/>
            <a:ext cx="19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238500" y="2076450"/>
            <a:ext cx="899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5"/>
          <p:cNvSpPr txBox="1"/>
          <p:nvPr/>
        </p:nvSpPr>
        <p:spPr>
          <a:xfrm>
            <a:off x="4686300" y="4057650"/>
            <a:ext cx="754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191575" y="4750800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1319" y="5977512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191128" y="923003"/>
            <a:ext cx="5743141" cy="530031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6457862" y="923003"/>
            <a:ext cx="5558787" cy="530031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252580" y="923003"/>
            <a:ext cx="537443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Insights</a:t>
            </a:r>
            <a:endParaRPr sz="16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6556185" y="867763"/>
            <a:ext cx="537443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Insights</a:t>
            </a:r>
            <a:endParaRPr sz="16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2497F-C37A-CFCE-D7A5-A71BE570871F}"/>
              </a:ext>
            </a:extLst>
          </p:cNvPr>
          <p:cNvSpPr txBox="1"/>
          <p:nvPr/>
        </p:nvSpPr>
        <p:spPr>
          <a:xfrm>
            <a:off x="258097" y="1229032"/>
            <a:ext cx="5088194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800" dirty="0"/>
              <a:t>Average </a:t>
            </a:r>
            <a:r>
              <a:rPr lang="en-US" sz="1800" b="1" dirty="0"/>
              <a:t>max capacity is ~16 hours</a:t>
            </a:r>
            <a:r>
              <a:rPr lang="en-US" sz="1800" dirty="0"/>
              <a:t>, with a negative skew indicating unused potential capacity</a:t>
            </a:r>
          </a:p>
          <a:p>
            <a:pPr marL="228600" indent="-228600">
              <a:buFont typeface=""/>
              <a:buChar char="•"/>
            </a:pPr>
            <a:r>
              <a:rPr lang="en-US" sz="1800" b="1" dirty="0"/>
              <a:t>Utilization percentage averages ~61%</a:t>
            </a:r>
            <a:r>
              <a:rPr lang="en-US" sz="1800" dirty="0"/>
              <a:t>, showing moderate but not optimal equipment usage</a:t>
            </a:r>
          </a:p>
          <a:p>
            <a:pPr marL="228600" indent="-228600">
              <a:buFont typeface=""/>
              <a:buChar char="•"/>
            </a:pPr>
            <a:r>
              <a:rPr lang="en-US" sz="1800" b="1" dirty="0"/>
              <a:t>Idle hours (~39%)</a:t>
            </a:r>
            <a:r>
              <a:rPr lang="en-US" sz="1800" dirty="0"/>
              <a:t> are consistently present, indicating inefficiency in scheduling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Utilization and idle hours show low kurtosis, suggesting stable but suboptimal performance patterns</a:t>
            </a:r>
          </a:p>
          <a:p>
            <a:pPr marL="228600" indent="-228600">
              <a:buFont typeface=""/>
              <a:buChar char="•"/>
            </a:pPr>
            <a:r>
              <a:rPr lang="en-US" sz="1800" b="1" dirty="0"/>
              <a:t>Technical downtime, maintenance hours, and workflow delays are zero</a:t>
            </a:r>
            <a:r>
              <a:rPr lang="en-US" sz="1800" dirty="0"/>
              <a:t>, indicating no recorded disruptions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Daily case volume is moderate with limited variability across days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Equipment usage is evenly distributed across weekdays, with lower activity on weekends.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5526F-8D38-D14C-A7DF-7C8101B08BE5}"/>
              </a:ext>
            </a:extLst>
          </p:cNvPr>
          <p:cNvSpPr txBox="1"/>
          <p:nvPr/>
        </p:nvSpPr>
        <p:spPr>
          <a:xfrm>
            <a:off x="6452419" y="1179872"/>
            <a:ext cx="5370870" cy="49241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800" dirty="0"/>
              <a:t>Significant </a:t>
            </a:r>
            <a:r>
              <a:rPr lang="en-US" sz="1800" b="1" dirty="0"/>
              <a:t>underutilization of high-cost IVF equipment</a:t>
            </a:r>
            <a:r>
              <a:rPr lang="en-US" sz="1800" dirty="0"/>
              <a:t>, leading to operational inefficiency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Excess idle hours indicate opportunity to </a:t>
            </a:r>
            <a:r>
              <a:rPr lang="en-US" sz="1800" b="1" dirty="0"/>
              <a:t>optimize scheduling and workload distribution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Absence of recorded downtime may indicate </a:t>
            </a:r>
            <a:r>
              <a:rPr lang="en-US" sz="1800" b="1" dirty="0"/>
              <a:t>data gaps or lack of downtime tracking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Stable utilization patterns suggest potential to </a:t>
            </a:r>
            <a:r>
              <a:rPr lang="en-US" sz="1800" b="1" dirty="0"/>
              <a:t>increase throughput without additional investment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Weekend underutilization presents an opportunity for </a:t>
            </a:r>
            <a:r>
              <a:rPr lang="en-US" sz="1800" b="1" dirty="0"/>
              <a:t>planned maintenance or extended scheduling</a:t>
            </a:r>
          </a:p>
          <a:p>
            <a:pPr marL="228600" indent="-228600">
              <a:buFont typeface=""/>
              <a:buChar char="•"/>
            </a:pPr>
            <a:r>
              <a:rPr lang="en-US" sz="1800" dirty="0"/>
              <a:t>Management can improve ROI by aligning capacity with actual demand using data-driven planning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sp>
        <p:nvSpPr>
          <p:cNvPr id="129" name="Google Shape;129;p30"/>
          <p:cNvSpPr txBox="1"/>
          <p:nvPr/>
        </p:nvSpPr>
        <p:spPr>
          <a:xfrm>
            <a:off x="876300" y="14287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D56045-9405-9B46-9A6D-F27B159AC55E}"/>
              </a:ext>
            </a:extLst>
          </p:cNvPr>
          <p:cNvSpPr txBox="1"/>
          <p:nvPr/>
        </p:nvSpPr>
        <p:spPr>
          <a:xfrm>
            <a:off x="231531" y="931984"/>
            <a:ext cx="1109003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GB" sz="2400" dirty="0"/>
              <a:t> Reviewed dataset structure and understood business meaning of all columns.</a:t>
            </a:r>
          </a:p>
          <a:p>
            <a:pPr>
              <a:buFont typeface="Arial"/>
              <a:buChar char="•"/>
            </a:pPr>
            <a:r>
              <a:rPr lang="en-GB" sz="2400" dirty="0"/>
              <a:t> Corrected data types for date, numerical, and categorical fields.</a:t>
            </a:r>
          </a:p>
          <a:p>
            <a:pPr>
              <a:buFont typeface="Arial"/>
              <a:buChar char="•"/>
            </a:pPr>
            <a:r>
              <a:rPr lang="en-GB" sz="2400" dirty="0"/>
              <a:t> Handled missing values using statistical methods and business logic.</a:t>
            </a:r>
          </a:p>
          <a:p>
            <a:pPr>
              <a:buFont typeface="Arial"/>
              <a:buChar char="•"/>
            </a:pPr>
            <a:r>
              <a:rPr lang="en-GB" sz="2400" dirty="0"/>
              <a:t> Removed duplicate and inconsistent records.</a:t>
            </a:r>
          </a:p>
          <a:p>
            <a:pPr>
              <a:buFont typeface="Arial"/>
              <a:buChar char="•"/>
            </a:pPr>
            <a:r>
              <a:rPr lang="en-GB" sz="2400" dirty="0"/>
              <a:t> Standardized text fields and naming conventions.</a:t>
            </a:r>
          </a:p>
          <a:p>
            <a:pPr>
              <a:buFont typeface="Arial"/>
              <a:buChar char="•"/>
            </a:pPr>
            <a:r>
              <a:rPr lang="en-GB" sz="2400" dirty="0"/>
              <a:t> Detected and treated outliers in utilization and downtime metrics.</a:t>
            </a:r>
          </a:p>
          <a:p>
            <a:pPr>
              <a:buFont typeface="Arial"/>
              <a:buChar char="•"/>
            </a:pPr>
            <a:r>
              <a:rPr lang="en-GB" sz="2400" dirty="0"/>
              <a:t> Created derived features such as utilization percentage and idle hours.</a:t>
            </a:r>
          </a:p>
          <a:p>
            <a:pPr>
              <a:buFont typeface="Arial"/>
              <a:buChar char="•"/>
            </a:pPr>
            <a:r>
              <a:rPr lang="en-GB" sz="2400" dirty="0"/>
              <a:t> Validated data consistency (capacity limits, logical ranges).</a:t>
            </a:r>
          </a:p>
          <a:p>
            <a:pPr>
              <a:buFont typeface="Arial"/>
              <a:buChar char="•"/>
            </a:pPr>
            <a:r>
              <a:rPr lang="en-GB" sz="2400" dirty="0"/>
              <a:t> Prepared final clean dataset for EDA and Power BI visualization.</a:t>
            </a:r>
            <a:endParaRPr lang="en-GB" dirty="0"/>
          </a:p>
          <a:p>
            <a:pPr marL="228600" indent="-228600">
              <a:buFont typeface=""/>
              <a:buChar char="•"/>
            </a:pPr>
            <a:endParaRPr lang="en-GB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/>
          </a:p>
        </p:txBody>
      </p:sp>
      <p:sp>
        <p:nvSpPr>
          <p:cNvPr id="137" name="Google Shape;137;p32"/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2"/>
          <p:cNvSpPr txBox="1"/>
          <p:nvPr/>
        </p:nvSpPr>
        <p:spPr>
          <a:xfrm>
            <a:off x="287350" y="1245175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3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02D433-69D2-7641-D90D-C4372C239302}"/>
              </a:ext>
            </a:extLst>
          </p:cNvPr>
          <p:cNvSpPr txBox="1"/>
          <p:nvPr/>
        </p:nvSpPr>
        <p:spPr>
          <a:xfrm>
            <a:off x="273170" y="956095"/>
            <a:ext cx="11631282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/>
              <a:t>Designed an interactive </a:t>
            </a:r>
            <a:r>
              <a:rPr lang="en-US" sz="2400" b="1" dirty="0"/>
              <a:t>Power BI dashboard</a:t>
            </a:r>
            <a:r>
              <a:rPr lang="en-US" sz="2400" dirty="0"/>
              <a:t> to monitor equipment performance.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Used </a:t>
            </a:r>
            <a:r>
              <a:rPr lang="en-US" sz="2400" b="1" dirty="0"/>
              <a:t>KPI cards</a:t>
            </a:r>
            <a:r>
              <a:rPr lang="en-US" sz="2400" dirty="0"/>
              <a:t> to display utilization %, idle hours, and downtime.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Created </a:t>
            </a:r>
            <a:r>
              <a:rPr lang="en-US" sz="2400" b="1" dirty="0"/>
              <a:t>bar charts</a:t>
            </a:r>
            <a:r>
              <a:rPr lang="en-US" sz="2400" dirty="0"/>
              <a:t> to compare utilization across equipment types.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Used </a:t>
            </a:r>
            <a:r>
              <a:rPr lang="en-US" sz="2400" b="1" dirty="0"/>
              <a:t>line charts</a:t>
            </a:r>
            <a:r>
              <a:rPr lang="en-US" sz="2400" dirty="0"/>
              <a:t> to analyze daily and monthly utilization trends.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Implemented </a:t>
            </a:r>
            <a:r>
              <a:rPr lang="en-US" sz="2400" b="1" dirty="0"/>
              <a:t>lab-wise and equipment-wise filters</a:t>
            </a:r>
            <a:r>
              <a:rPr lang="en-US" sz="2400" dirty="0"/>
              <a:t> for drill-down analysis.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Visualized downtime and maintenance impact on utilization.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Enabled quick identification of underutilized and overutilized equipment.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Provided clear visuals to support operational and management decisions.</a:t>
            </a:r>
          </a:p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9301C-8C59-E55D-54A2-B4E545A5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1" y="65519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Visualization Using Power BI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7DDFF6-4746-0FB8-2DBF-B0F4B586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" y="1382150"/>
            <a:ext cx="12185221" cy="505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0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E9B-66B6-1851-582B-582E91BE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Visualization Using Power BI(KPI Cards)</a:t>
            </a:r>
          </a:p>
        </p:txBody>
      </p:sp>
      <p:pic>
        <p:nvPicPr>
          <p:cNvPr id="3" name="Picture 2" descr="A screenshot of a screenshot of a dashboard&#10;&#10;AI-generated content may be incorrect.">
            <a:extLst>
              <a:ext uri="{FF2B5EF4-FFF2-40B4-BE49-F238E27FC236}">
                <a16:creationId xmlns:a16="http://schemas.microsoft.com/office/drawing/2014/main" id="{43B358E1-DB31-BAF2-F40B-C7877F734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" y="835435"/>
            <a:ext cx="12191384" cy="559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9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5" y="272435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3552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 Optimized Equipment Utilization and Management for IVF Laboratory Operations</vt:lpstr>
      <vt:lpstr>Contents</vt:lpstr>
      <vt:lpstr>Business Problem</vt:lpstr>
      <vt:lpstr>Project Overview and Scope</vt:lpstr>
      <vt:lpstr>Project Architecture – Data Flow Diagram</vt:lpstr>
      <vt:lpstr>Data Dictionary </vt:lpstr>
      <vt:lpstr>Exploratory Data Analysis(EDA)</vt:lpstr>
      <vt:lpstr>Exploratory Data Analysis [EDA]</vt:lpstr>
      <vt:lpstr>Data Preprocessing</vt:lpstr>
      <vt:lpstr>Data Visualization </vt:lpstr>
      <vt:lpstr>Data Visualization Using Power BI</vt:lpstr>
      <vt:lpstr>Data Visualization Using Power BI(KPI Cards)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VIKAS BARTHWAL</dc:creator>
  <cp:revision>241</cp:revision>
  <dcterms:created xsi:type="dcterms:W3CDTF">2022-02-16T01:47:29Z</dcterms:created>
  <dcterms:modified xsi:type="dcterms:W3CDTF">2026-01-16T15:25:36Z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